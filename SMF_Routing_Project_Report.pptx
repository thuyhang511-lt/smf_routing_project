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0" d="100"/>
          <a:sy n="40" d="100"/>
        </p:scale>
        <p:origin x="26" y="7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1F5F9"/>
                </a:solidFill>
              </a:defRPr>
            </a:pPr>
            <a:r>
              <a:t>SMF Routing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468880"/>
            <a:ext cx="365760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2E8F0"/>
                </a:solidFill>
              </a:defRPr>
            </a:pPr>
            <a:r>
              <a:t>Xây dựng chức năng Routing trong hệ thống hiệu năng 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</a:defRPr>
            </a:pPr>
            <a:r>
              <a:t>Mô phỏng module SMF — 5G Core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3441968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</a:defRPr>
            </a:pPr>
            <a:r>
              <a:rPr dirty="0" err="1">
                <a:latin typeface="Calibri (Body)"/>
              </a:rPr>
              <a:t>Người</a:t>
            </a:r>
            <a:r>
              <a:rPr dirty="0">
                <a:latin typeface="Calibri (Body)"/>
              </a:rPr>
              <a:t> </a:t>
            </a:r>
            <a:r>
              <a:rPr dirty="0" err="1">
                <a:latin typeface="Calibri (Body)"/>
              </a:rPr>
              <a:t>thực</a:t>
            </a:r>
            <a:r>
              <a:rPr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hiện</a:t>
            </a:r>
            <a:r>
              <a:rPr lang="en-US" dirty="0">
                <a:latin typeface="Calibri (Body)"/>
              </a:rPr>
              <a:t>: </a:t>
            </a:r>
            <a:r>
              <a:rPr lang="vi-VN" dirty="0">
                <a:latin typeface="Calibri (Body)"/>
              </a:rPr>
              <a:t>Lê Thị Thúy Hằng</a:t>
            </a:r>
            <a:endParaRPr dirty="0">
              <a:latin typeface="Calibri (Body)"/>
            </a:endParaRP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</a:defRPr>
            </a:pPr>
            <a:r>
              <a:rPr dirty="0">
                <a:latin typeface="Calibri (Body)"/>
              </a:rPr>
              <a:t>Mentor: </a:t>
            </a:r>
            <a:r>
              <a:rPr lang="vi-VN" dirty="0">
                <a:latin typeface="Calibri (Body)"/>
              </a:rPr>
              <a:t>Nguyễn Tiến Đông</a:t>
            </a:r>
            <a:endParaRPr dirty="0">
              <a:latin typeface="Calibri (Body)"/>
            </a:endParaRPr>
          </a:p>
          <a:p>
            <a:pPr>
              <a:spcAft>
                <a:spcPts val="600"/>
              </a:spcAft>
              <a:defRPr sz="1800">
                <a:solidFill>
                  <a:srgbClr val="CBD5E1"/>
                </a:solidFill>
              </a:defRPr>
            </a:pPr>
            <a:r>
              <a:rPr dirty="0" err="1">
                <a:latin typeface="Calibri (Body)"/>
              </a:rPr>
              <a:t>Ngày</a:t>
            </a:r>
            <a:r>
              <a:rPr dirty="0">
                <a:latin typeface="Calibri (Body)"/>
              </a:rPr>
              <a:t> </a:t>
            </a:r>
            <a:r>
              <a:rPr dirty="0" err="1">
                <a:latin typeface="Calibri (Body)"/>
              </a:rPr>
              <a:t>báo</a:t>
            </a:r>
            <a:r>
              <a:rPr dirty="0">
                <a:latin typeface="Calibri (Body)"/>
              </a:rPr>
              <a:t> </a:t>
            </a:r>
            <a:r>
              <a:rPr dirty="0" err="1">
                <a:latin typeface="Calibri (Body)"/>
              </a:rPr>
              <a:t>cáo</a:t>
            </a:r>
            <a:r>
              <a:rPr dirty="0">
                <a:latin typeface="Calibri (Body)"/>
              </a:rPr>
              <a:t>: </a:t>
            </a:r>
            <a:r>
              <a:rPr lang="vi-VN" dirty="0">
                <a:latin typeface="Calibri (Body)"/>
              </a:rPr>
              <a:t>17/08/2026</a:t>
            </a:r>
            <a:endParaRPr dirty="0">
              <a:latin typeface="Calibri (Body)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&amp; Phạm vi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286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6B6D4"/>
                </a:solidFill>
              </a:defRPr>
            </a:pPr>
            <a:r>
              <a:rPr dirty="0"/>
              <a:t>●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phỏng</a:t>
            </a:r>
            <a:r>
              <a:rPr dirty="0"/>
              <a:t> </a:t>
            </a:r>
            <a:r>
              <a:rPr dirty="0" err="1"/>
              <a:t>tầng</a:t>
            </a:r>
            <a:r>
              <a:rPr dirty="0"/>
              <a:t> routing HTTP </a:t>
            </a:r>
            <a:r>
              <a:rPr dirty="0" err="1"/>
              <a:t>tại</a:t>
            </a:r>
            <a:r>
              <a:rPr dirty="0"/>
              <a:t> Gateway </a:t>
            </a:r>
            <a:r>
              <a:rPr dirty="0" err="1"/>
              <a:t>của</a:t>
            </a:r>
            <a:r>
              <a:rPr dirty="0"/>
              <a:t> SMF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chuẩn</a:t>
            </a:r>
            <a:r>
              <a:rPr dirty="0"/>
              <a:t> 3GPP TS 29.500 / 23.502</a:t>
            </a:r>
          </a:p>
          <a:p>
            <a:pPr>
              <a:spcAft>
                <a:spcPts val="800"/>
              </a:spcAft>
              <a:defRPr sz="2200" b="1">
                <a:solidFill>
                  <a:srgbClr val="E2E8F0"/>
                </a:solidFill>
              </a:defRPr>
            </a:pPr>
            <a:r>
              <a:rPr dirty="0"/>
              <a:t>● 4 </a:t>
            </a: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cân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tải</a:t>
            </a:r>
            <a:r>
              <a:rPr dirty="0"/>
              <a:t>:</a:t>
            </a:r>
          </a:p>
          <a:p>
            <a:pPr>
              <a:spcAft>
                <a:spcPts val="400"/>
              </a:spcAft>
              <a:defRPr sz="2000" b="0">
                <a:solidFill>
                  <a:srgbClr val="22C55E"/>
                </a:solidFill>
              </a:defRPr>
            </a:pPr>
            <a:r>
              <a:rPr dirty="0"/>
              <a:t>  ○ Round Robin — Weighted Round Robin — Load-based — Maglev Consistent Hashing</a:t>
            </a:r>
          </a:p>
          <a:p>
            <a:pPr>
              <a:spcAft>
                <a:spcPts val="800"/>
              </a:spcAft>
              <a:defRPr sz="2200" b="1">
                <a:solidFill>
                  <a:srgbClr val="E2E8F0"/>
                </a:solidFill>
              </a:defRPr>
            </a:pPr>
            <a:r>
              <a:rPr dirty="0"/>
              <a:t>● </a:t>
            </a:r>
            <a:r>
              <a:rPr dirty="0" err="1"/>
              <a:t>Chịu</a:t>
            </a:r>
            <a:r>
              <a:rPr dirty="0"/>
              <a:t> </a:t>
            </a:r>
            <a:r>
              <a:rPr dirty="0" err="1"/>
              <a:t>lỗi</a:t>
            </a:r>
            <a:r>
              <a:rPr dirty="0"/>
              <a:t> (Fault Tolerance) </a:t>
            </a:r>
            <a:r>
              <a:rPr dirty="0" err="1"/>
              <a:t>khi</a:t>
            </a:r>
            <a:r>
              <a:rPr dirty="0"/>
              <a:t> PDU instance scale up / scale down</a:t>
            </a:r>
          </a:p>
          <a:p>
            <a:pPr>
              <a:spcAft>
                <a:spcPts val="400"/>
              </a:spcAft>
              <a:defRPr sz="1800" b="0">
                <a:solidFill>
                  <a:srgbClr val="CBD5E1"/>
                </a:solidFill>
              </a:defRPr>
            </a:pPr>
            <a:r>
              <a:rPr dirty="0"/>
              <a:t>  ○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instance </a:t>
            </a:r>
            <a:r>
              <a:rPr dirty="0" err="1"/>
              <a:t>mới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qua port </a:t>
            </a:r>
            <a:r>
              <a:rPr dirty="0" err="1"/>
              <a:t>động</a:t>
            </a:r>
            <a:endParaRPr dirty="0"/>
          </a:p>
          <a:p>
            <a:pPr>
              <a:spcAft>
                <a:spcPts val="800"/>
              </a:spcAft>
              <a:defRPr sz="2200" b="1">
                <a:solidFill>
                  <a:srgbClr val="E2E8F0"/>
                </a:solidFill>
              </a:defRPr>
            </a:pPr>
            <a:r>
              <a:rPr dirty="0"/>
              <a:t>● </a:t>
            </a:r>
            <a:r>
              <a:rPr dirty="0" err="1"/>
              <a:t>Đóng</a:t>
            </a:r>
            <a:r>
              <a:rPr dirty="0"/>
              <a:t>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Docker Compose</a:t>
            </a:r>
          </a:p>
          <a:p>
            <a:pPr>
              <a:spcAft>
                <a:spcPts val="400"/>
              </a:spcAft>
              <a:defRPr sz="1800" b="0">
                <a:solidFill>
                  <a:srgbClr val="CBD5E1"/>
                </a:solidFill>
              </a:defRPr>
            </a:pPr>
            <a:r>
              <a:rPr dirty="0"/>
              <a:t>  ○ </a:t>
            </a:r>
            <a:r>
              <a:rPr lang="vi-VN" dirty="0"/>
              <a:t>T</a:t>
            </a:r>
            <a:r>
              <a:rPr dirty="0" err="1"/>
              <a:t>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tới</a:t>
            </a:r>
            <a:r>
              <a:rPr dirty="0"/>
              <a:t> </a:t>
            </a:r>
            <a:r>
              <a:rPr dirty="0" err="1"/>
              <a:t>giới</a:t>
            </a:r>
            <a:r>
              <a:rPr dirty="0"/>
              <a:t> </a:t>
            </a:r>
            <a:r>
              <a:rPr dirty="0" err="1"/>
              <a:t>hạn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cứng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quan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286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</a:defRPr>
            </a:pPr>
            <a:r>
              <a:t>Luồng xử lý: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1F5F9"/>
                </a:solidFill>
              </a:defRPr>
            </a:pPr>
            <a:r>
              <a:t>Client / AMF  →  Gateway (HTTP/2 h2c)  →  PDU Session #1 / #2 / #3  →  PostgreSQL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91440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</a:defRPr>
            </a:pPr>
            <a:r>
              <a:t>Vai trò các Service: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20040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6B6D4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6B6D4"/>
                          </a:solidFill>
                        </a:defRPr>
                      </a:pPr>
                      <a:r>
                        <a:t>Vai trò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1F5F9"/>
                          </a:solidFill>
                        </a:defRPr>
                      </a:pPr>
                      <a:r>
                        <a:t>gateway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1F5F9"/>
                          </a:solidFill>
                        </a:defRPr>
                      </a:pPr>
                      <a:r>
                        <a:t>HTTP/2 routing, load balancing, service discovery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1F5F9"/>
                          </a:solidFill>
                        </a:defRPr>
                      </a:pPr>
                      <a:r>
                        <a:t>pdu_1 / pdu_2 / pdu_3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1F5F9"/>
                          </a:solidFill>
                        </a:defRPr>
                      </a:pPr>
                      <a:r>
                        <a:t>Xử lý PDU Session, ghi DB bất đồng bộ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1F5F9"/>
                          </a:solidFill>
                        </a:defRPr>
                      </a:pPr>
                      <a:r>
                        <a:t>postgres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1F5F9"/>
                          </a:solidFill>
                        </a:defRPr>
                      </a:pPr>
                      <a:r>
                        <a:t>Lưu trữ session data (PostgreSQL 15)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1F5F9"/>
                          </a:solidFill>
                        </a:defRPr>
                      </a:pPr>
                      <a:r>
                        <a:t>pgadmin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1F5F9"/>
                          </a:solidFill>
                        </a:defRPr>
                      </a:pPr>
                      <a:r>
                        <a:t>Giao diện quản trị &amp; debug DB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97316"/>
                </a:solidFill>
              </a:defRPr>
            </a:pPr>
            <a:r>
              <a:t>✦ Toàn bộ giao tiếp nội bộ qua HTTP/2 cleartext (h2c) — đúng chuẩn SBA của 5G 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rPr dirty="0"/>
              <a:t>Công </a:t>
            </a:r>
            <a:r>
              <a:rPr dirty="0" err="1"/>
              <a:t>nghệ</a:t>
            </a:r>
            <a:r>
              <a:rPr dirty="0"/>
              <a:t>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dụng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286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6B6D4"/>
                </a:solidFill>
              </a:defRPr>
            </a:pPr>
            <a:r>
              <a:t>● Ngôn ngữ: Go 1.26</a:t>
            </a:r>
          </a:p>
          <a:p>
            <a:pPr>
              <a:spcAft>
                <a:spcPts val="800"/>
              </a:spcAft>
              <a:defRPr sz="2200" b="1">
                <a:solidFill>
                  <a:srgbClr val="E2E8F0"/>
                </a:solidFill>
              </a:defRPr>
            </a:pPr>
            <a:r>
              <a:t>● Giao thức: HTTP/2 h2c (golang.org/x/net/http2)</a:t>
            </a:r>
          </a:p>
          <a:p>
            <a:pPr>
              <a:spcAft>
                <a:spcPts val="400"/>
              </a:spcAft>
              <a:defRPr sz="1800" b="0">
                <a:solidFill>
                  <a:srgbClr val="CBD5E1"/>
                </a:solidFill>
              </a:defRPr>
            </a:pPr>
            <a:r>
              <a:t>  ○ Cleartext HTTP/2 — không TLS overhead</a:t>
            </a:r>
          </a:p>
          <a:p>
            <a:pPr>
              <a:spcAft>
                <a:spcPts val="800"/>
              </a:spcAft>
              <a:defRPr sz="2200" b="1">
                <a:solidFill>
                  <a:srgbClr val="E2E8F0"/>
                </a:solidFill>
              </a:defRPr>
            </a:pPr>
            <a:r>
              <a:t>● Database: PostgreSQL 15 + driver pgx/v5 (pgxpool)</a:t>
            </a:r>
          </a:p>
          <a:p>
            <a:pPr>
              <a:spcAft>
                <a:spcPts val="800"/>
              </a:spcAft>
              <a:defRPr sz="2200" b="1">
                <a:solidFill>
                  <a:srgbClr val="E2E8F0"/>
                </a:solidFill>
              </a:defRPr>
            </a:pPr>
            <a:r>
              <a:t>● JSON: mailru/easyjson — static code gen, không reflection</a:t>
            </a:r>
          </a:p>
          <a:p>
            <a:pPr>
              <a:spcAft>
                <a:spcPts val="800"/>
              </a:spcAft>
              <a:defRPr sz="2200" b="1">
                <a:solidFill>
                  <a:srgbClr val="E2E8F0"/>
                </a:solidFill>
              </a:defRPr>
            </a:pPr>
            <a:r>
              <a:t>● Hạ tầng: Docker Compose, CPU pinning (cpuset), network_mode: host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rPr dirty="0"/>
              <a:t>4 </a:t>
            </a: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Routing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2860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6B6D4"/>
                </a:solidFill>
              </a:defRPr>
            </a:pPr>
            <a:r>
              <a:rPr dirty="0"/>
              <a:t>● Round Robin</a:t>
            </a:r>
          </a:p>
          <a:p>
            <a:pPr>
              <a:spcAft>
                <a:spcPts val="400"/>
              </a:spcAft>
              <a:defRPr sz="1800" b="0">
                <a:solidFill>
                  <a:srgbClr val="E2E8F0"/>
                </a:solidFill>
              </a:defRPr>
            </a:pPr>
            <a:r>
              <a:rPr dirty="0"/>
              <a:t>  ○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atomic.AddUint64 — thread-safe </a:t>
            </a:r>
            <a:r>
              <a:rPr dirty="0" err="1"/>
              <a:t>trên</a:t>
            </a:r>
            <a:r>
              <a:rPr dirty="0"/>
              <a:t> goroutines</a:t>
            </a:r>
          </a:p>
          <a:p>
            <a:pPr>
              <a:spcAft>
                <a:spcPts val="400"/>
              </a:spcAft>
              <a:defRPr sz="1800" b="0">
                <a:solidFill>
                  <a:srgbClr val="E2E8F0"/>
                </a:solidFill>
              </a:defRPr>
            </a:pPr>
            <a:r>
              <a:rPr dirty="0"/>
              <a:t>  ○ Chia </a:t>
            </a:r>
            <a:r>
              <a:rPr dirty="0" err="1"/>
              <a:t>đều</a:t>
            </a:r>
            <a:r>
              <a:rPr dirty="0"/>
              <a:t> </a:t>
            </a:r>
            <a:r>
              <a:rPr dirty="0" err="1"/>
              <a:t>tuần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qua </a:t>
            </a:r>
            <a:r>
              <a:rPr dirty="0" err="1"/>
              <a:t>các</a:t>
            </a:r>
            <a:r>
              <a:rPr dirty="0"/>
              <a:t> backend </a:t>
            </a:r>
            <a:r>
              <a:rPr dirty="0" err="1"/>
              <a:t>còn</a:t>
            </a:r>
            <a:r>
              <a:rPr dirty="0"/>
              <a:t> </a:t>
            </a:r>
            <a:r>
              <a:rPr dirty="0" err="1"/>
              <a:t>sống</a:t>
            </a:r>
            <a:r>
              <a:rPr dirty="0"/>
              <a:t> (healthy)</a:t>
            </a:r>
          </a:p>
          <a:p>
            <a:pPr>
              <a:spcAft>
                <a:spcPts val="400"/>
              </a:spcAft>
              <a:defRPr sz="1800" b="0">
                <a:solidFill>
                  <a:srgbClr val="22C55E"/>
                </a:solidFill>
              </a:defRPr>
            </a:pPr>
            <a:r>
              <a:rPr dirty="0"/>
              <a:t>  ○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: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giản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state, overhead </a:t>
            </a:r>
            <a:r>
              <a:rPr dirty="0" err="1"/>
              <a:t>cực</a:t>
            </a:r>
            <a:r>
              <a:rPr dirty="0"/>
              <a:t> </a:t>
            </a:r>
            <a:r>
              <a:rPr dirty="0" err="1"/>
              <a:t>thấp</a:t>
            </a:r>
            <a:endParaRPr dirty="0"/>
          </a:p>
          <a:p>
            <a:pPr>
              <a:spcAft>
                <a:spcPts val="800"/>
              </a:spcAft>
              <a:defRPr sz="800" b="0">
                <a:solidFill>
                  <a:srgbClr val="E2E8F0"/>
                </a:solidFill>
              </a:defRPr>
            </a:pPr>
            <a:r>
              <a:rPr dirty="0"/>
              <a:t>● </a:t>
            </a:r>
          </a:p>
          <a:p>
            <a:pPr>
              <a:spcAft>
                <a:spcPts val="800"/>
              </a:spcAft>
              <a:defRPr sz="2400" b="1">
                <a:solidFill>
                  <a:srgbClr val="06B6D4"/>
                </a:solidFill>
              </a:defRPr>
            </a:pPr>
            <a:r>
              <a:rPr dirty="0"/>
              <a:t>● Weighted Round Robin</a:t>
            </a:r>
          </a:p>
          <a:p>
            <a:pPr>
              <a:spcAft>
                <a:spcPts val="400"/>
              </a:spcAft>
              <a:defRPr sz="1800" b="0">
                <a:solidFill>
                  <a:srgbClr val="E2E8F0"/>
                </a:solidFill>
              </a:defRPr>
            </a:pPr>
            <a:r>
              <a:rPr dirty="0"/>
              <a:t>  ○ </a:t>
            </a: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Smooth WRR </a:t>
            </a:r>
            <a:r>
              <a:rPr dirty="0" err="1"/>
              <a:t>chuẩn</a:t>
            </a:r>
            <a:r>
              <a:rPr dirty="0"/>
              <a:t> (nginx-style)</a:t>
            </a:r>
          </a:p>
          <a:p>
            <a:pPr>
              <a:spcAft>
                <a:spcPts val="400"/>
              </a:spcAft>
              <a:defRPr sz="1800" b="0">
                <a:solidFill>
                  <a:srgbClr val="E2E8F0"/>
                </a:solidFill>
              </a:defRPr>
            </a:pPr>
            <a:r>
              <a:rPr dirty="0"/>
              <a:t>  ○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mặc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: 3 : 2 : 1</a:t>
            </a:r>
          </a:p>
          <a:p>
            <a:pPr>
              <a:spcAft>
                <a:spcPts val="400"/>
              </a:spcAft>
              <a:defRPr sz="1800" b="0">
                <a:solidFill>
                  <a:srgbClr val="22C55E"/>
                </a:solidFill>
              </a:defRPr>
            </a:pPr>
            <a:r>
              <a:rPr dirty="0"/>
              <a:t>  ○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phối</a:t>
            </a:r>
            <a:r>
              <a:rPr dirty="0"/>
              <a:t> </a:t>
            </a:r>
            <a:r>
              <a:rPr dirty="0" err="1"/>
              <a:t>mượt</a:t>
            </a:r>
            <a:r>
              <a:rPr dirty="0"/>
              <a:t> — </a:t>
            </a:r>
            <a:r>
              <a:rPr dirty="0" err="1"/>
              <a:t>tránh</a:t>
            </a:r>
            <a:r>
              <a:rPr dirty="0"/>
              <a:t> burst traffic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rPr dirty="0"/>
              <a:t>4 </a:t>
            </a: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Routing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2860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97316"/>
                </a:solidFill>
              </a:defRPr>
            </a:pPr>
            <a:r>
              <a:t>● Load-based</a:t>
            </a:r>
          </a:p>
          <a:p>
            <a:pPr>
              <a:spcAft>
                <a:spcPts val="400"/>
              </a:spcAft>
              <a:defRPr sz="1800" b="0">
                <a:solidFill>
                  <a:srgbClr val="E2E8F0"/>
                </a:solidFill>
              </a:defRPr>
            </a:pPr>
            <a:r>
              <a:t>  ○ Chọn backend có ActiveRequests thấp nhất tại thời điểm route</a:t>
            </a:r>
          </a:p>
          <a:p>
            <a:pPr>
              <a:spcAft>
                <a:spcPts val="800"/>
              </a:spcAft>
              <a:defRPr sz="800" b="0">
                <a:solidFill>
                  <a:srgbClr val="E2E8F0"/>
                </a:solidFill>
              </a:defRPr>
            </a:pPr>
            <a:r>
              <a:t>● </a:t>
            </a:r>
          </a:p>
          <a:p>
            <a:pPr>
              <a:spcAft>
                <a:spcPts val="800"/>
              </a:spcAft>
              <a:defRPr sz="2400" b="1">
                <a:solidFill>
                  <a:srgbClr val="F97316"/>
                </a:solidFill>
              </a:defRPr>
            </a:pPr>
            <a:r>
              <a:t>● Maglev Consistent Hashing</a:t>
            </a:r>
          </a:p>
          <a:p>
            <a:pPr>
              <a:spcAft>
                <a:spcPts val="400"/>
              </a:spcAft>
              <a:defRPr sz="1800" b="0">
                <a:solidFill>
                  <a:srgbClr val="E2E8F0"/>
                </a:solidFill>
              </a:defRPr>
            </a:pPr>
            <a:r>
              <a:t>  ○ Bảng permutation M = 1009 (số nguyên tố), băm theo SUPI</a:t>
            </a:r>
          </a:p>
          <a:p>
            <a:pPr>
              <a:spcAft>
                <a:spcPts val="400"/>
              </a:spcAft>
              <a:defRPr sz="1800" b="0">
                <a:solidFill>
                  <a:srgbClr val="22C55E"/>
                </a:solidFill>
              </a:defRPr>
            </a:pPr>
            <a:r>
              <a:t>  ○ Đảm bảo Session Affinity: cùng 1 SUPI luôn route vào cùng 1 backend</a:t>
            </a:r>
          </a:p>
          <a:p>
            <a:pPr>
              <a:spcAft>
                <a:spcPts val="400"/>
              </a:spcAft>
              <a:defRPr sz="1800" b="0">
                <a:solidFill>
                  <a:srgbClr val="E2E8F0"/>
                </a:solidFill>
              </a:defRPr>
            </a:pPr>
            <a:r>
              <a:t>  ○ Tự build lại bảng khi danh sách backend thay đổi</a:t>
            </a:r>
          </a:p>
          <a:p>
            <a:pPr>
              <a:spcAft>
                <a:spcPts val="800"/>
              </a:spcAft>
              <a:defRPr sz="800" b="0">
                <a:solidFill>
                  <a:srgbClr val="E2E8F0"/>
                </a:solidFill>
              </a:defRPr>
            </a:pPr>
            <a:r>
              <a:t>● </a:t>
            </a:r>
          </a:p>
          <a:p>
            <a:pPr>
              <a:spcAft>
                <a:spcPts val="800"/>
              </a:spcAft>
              <a:defRPr sz="2000" b="1">
                <a:solidFill>
                  <a:srgbClr val="06B6D4"/>
                </a:solidFill>
              </a:defRPr>
            </a:pPr>
            <a:r>
              <a:t>● ✦ Đổi thuật toán runtime qua GET /admin/algo?name=...</a:t>
            </a:r>
          </a:p>
          <a:p>
            <a:pPr>
              <a:spcAft>
                <a:spcPts val="400"/>
              </a:spcAft>
              <a:defRPr sz="1800" b="0">
                <a:solidFill>
                  <a:srgbClr val="CBD5E1"/>
                </a:solidFill>
              </a:defRPr>
            </a:pPr>
            <a:r>
              <a:t>  ○ Không cần restart Gateway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rPr dirty="0"/>
              <a:t>Service Discovery: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ký</a:t>
            </a:r>
            <a:r>
              <a:rPr dirty="0"/>
              <a:t> + Heartbeat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2860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6B6D4"/>
                </a:solidFill>
              </a:defRPr>
            </a:pPr>
            <a:r>
              <a:t>● Lấy cảm hứng từ NRF (Network Repository Function) — 3GPP TS 29.510</a:t>
            </a:r>
          </a:p>
          <a:p>
            <a:pPr>
              <a:spcAft>
                <a:spcPts val="800"/>
              </a:spcAft>
              <a:defRPr sz="2000" b="1">
                <a:solidFill>
                  <a:srgbClr val="E2E8F0"/>
                </a:solidFill>
              </a:defRPr>
            </a:pPr>
            <a:r>
              <a:t>● PDU backend bind cổng ngẫu nhiên: net.Listen(":0")</a:t>
            </a:r>
          </a:p>
          <a:p>
            <a:pPr>
              <a:spcAft>
                <a:spcPts val="800"/>
              </a:spcAft>
              <a:defRPr sz="2000" b="1">
                <a:solidFill>
                  <a:srgbClr val="E2E8F0"/>
                </a:solidFill>
              </a:defRPr>
            </a:pPr>
            <a:r>
              <a:t>● Tự POST /admin/heartbeat đăng ký địa chỉ thật</a:t>
            </a:r>
          </a:p>
          <a:p>
            <a:pPr>
              <a:spcAft>
                <a:spcPts val="400"/>
              </a:spcAft>
              <a:defRPr sz="1800" b="0">
                <a:solidFill>
                  <a:srgbClr val="E2E8F0"/>
                </a:solidFill>
              </a:defRPr>
            </a:pPr>
            <a:r>
              <a:t>  ○ Gửi heartbeat mỗi 3 giây</a:t>
            </a:r>
          </a:p>
          <a:p>
            <a:pPr>
              <a:spcAft>
                <a:spcPts val="800"/>
              </a:spcAft>
              <a:defRPr sz="2000" b="1">
                <a:solidFill>
                  <a:srgbClr val="E2E8F0"/>
                </a:solidFill>
              </a:defRPr>
            </a:pPr>
            <a:r>
              <a:t>● Gateway lưu LastSeen theo từng backend</a:t>
            </a:r>
          </a:p>
          <a:p>
            <a:pPr>
              <a:spcAft>
                <a:spcPts val="400"/>
              </a:spcAft>
              <a:defRPr sz="1800" b="0">
                <a:solidFill>
                  <a:srgbClr val="E2E8F0"/>
                </a:solidFill>
              </a:defRPr>
            </a:pPr>
            <a:r>
              <a:t>  ○ Sweeper chạy mỗi 5 giây, đánh dấu "chết" nếu &gt; 10s không thấy heartbeat</a:t>
            </a:r>
          </a:p>
          <a:p>
            <a:pPr>
              <a:spcAft>
                <a:spcPts val="800"/>
              </a:spcAft>
              <a:defRPr sz="2200" b="1">
                <a:solidFill>
                  <a:srgbClr val="22C55E"/>
                </a:solidFill>
              </a:defRPr>
            </a:pPr>
            <a:r>
              <a:t>● ✦ Giải quyết đồng thời: phát hiện instance mới + health-check tự động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rPr dirty="0"/>
              <a:t>Lưu </a:t>
            </a:r>
            <a:r>
              <a:rPr dirty="0" err="1"/>
              <a:t>trữ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: </a:t>
            </a:r>
            <a:r>
              <a:rPr dirty="0" err="1"/>
              <a:t>Ghi</a:t>
            </a:r>
            <a:r>
              <a:rPr dirty="0"/>
              <a:t> </a:t>
            </a:r>
            <a:r>
              <a:rPr dirty="0" err="1"/>
              <a:t>bất</a:t>
            </a:r>
            <a:r>
              <a:rPr dirty="0"/>
              <a:t> </a:t>
            </a: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Batch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2860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6B6D4"/>
                </a:solidFill>
              </a:defRPr>
            </a:pPr>
            <a:r>
              <a:rPr dirty="0"/>
              <a:t>● PDU backend </a:t>
            </a:r>
            <a:r>
              <a:rPr dirty="0" err="1"/>
              <a:t>đẩy</a:t>
            </a:r>
            <a:r>
              <a:rPr dirty="0"/>
              <a:t> record </a:t>
            </a:r>
            <a:r>
              <a:rPr dirty="0" err="1"/>
              <a:t>vào</a:t>
            </a:r>
            <a:r>
              <a:rPr dirty="0"/>
              <a:t> channel </a:t>
            </a:r>
            <a:r>
              <a:rPr dirty="0" err="1"/>
              <a:t>sessionQueue</a:t>
            </a:r>
            <a:r>
              <a:rPr dirty="0"/>
              <a:t> (buffer 50.000)</a:t>
            </a:r>
          </a:p>
          <a:p>
            <a:pPr>
              <a:spcAft>
                <a:spcPts val="400"/>
              </a:spcAft>
              <a:defRPr sz="1800" b="0">
                <a:solidFill>
                  <a:srgbClr val="CBD5E1"/>
                </a:solidFill>
              </a:defRPr>
            </a:pPr>
            <a:r>
              <a:rPr dirty="0"/>
              <a:t>  ○ Thay </a:t>
            </a:r>
            <a:r>
              <a:rPr dirty="0" err="1"/>
              <a:t>vì</a:t>
            </a:r>
            <a:r>
              <a:rPr dirty="0"/>
              <a:t> </a:t>
            </a:r>
            <a:r>
              <a:rPr dirty="0" err="1"/>
              <a:t>ghi</a:t>
            </a:r>
            <a:r>
              <a:rPr dirty="0"/>
              <a:t> DB </a:t>
            </a:r>
            <a:r>
              <a:rPr dirty="0" err="1"/>
              <a:t>ngay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request handler</a:t>
            </a:r>
          </a:p>
          <a:p>
            <a:pPr>
              <a:spcAft>
                <a:spcPts val="800"/>
              </a:spcAft>
              <a:defRPr sz="2000" b="1">
                <a:solidFill>
                  <a:srgbClr val="E2E8F0"/>
                </a:solidFill>
              </a:defRPr>
            </a:pPr>
            <a:r>
              <a:rPr dirty="0"/>
              <a:t>● 2 DB worker </a:t>
            </a:r>
            <a:r>
              <a:rPr dirty="0" err="1"/>
              <a:t>nền</a:t>
            </a:r>
            <a:r>
              <a:rPr dirty="0"/>
              <a:t> </a:t>
            </a:r>
            <a:r>
              <a:rPr dirty="0" err="1"/>
              <a:t>gom</a:t>
            </a:r>
            <a:r>
              <a:rPr dirty="0"/>
              <a:t> batch: </a:t>
            </a:r>
            <a:r>
              <a:rPr dirty="0" err="1"/>
              <a:t>đủ</a:t>
            </a:r>
            <a:r>
              <a:rPr dirty="0"/>
              <a:t> 1.000 record HOẶC </a:t>
            </a:r>
            <a:r>
              <a:rPr dirty="0" err="1"/>
              <a:t>mỗi</a:t>
            </a:r>
            <a:r>
              <a:rPr dirty="0"/>
              <a:t> 500ms</a:t>
            </a:r>
          </a:p>
          <a:p>
            <a:pPr>
              <a:spcAft>
                <a:spcPts val="400"/>
              </a:spcAft>
              <a:defRPr sz="1800" b="0">
                <a:solidFill>
                  <a:srgbClr val="22C55E"/>
                </a:solidFill>
              </a:defRPr>
            </a:pPr>
            <a:r>
              <a:rPr dirty="0"/>
              <a:t>  ○ </a:t>
            </a:r>
            <a:r>
              <a:rPr dirty="0" err="1"/>
              <a:t>pgx.Batch</a:t>
            </a:r>
            <a:r>
              <a:rPr dirty="0"/>
              <a:t> + </a:t>
            </a:r>
            <a:r>
              <a:rPr dirty="0" err="1"/>
              <a:t>SendBatch</a:t>
            </a:r>
            <a:r>
              <a:rPr dirty="0"/>
              <a:t> → 1 round-trip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cả</a:t>
            </a:r>
            <a:r>
              <a:rPr dirty="0"/>
              <a:t> batch</a:t>
            </a:r>
          </a:p>
          <a:p>
            <a:pPr>
              <a:spcAft>
                <a:spcPts val="800"/>
              </a:spcAft>
              <a:defRPr sz="2000" b="1">
                <a:solidFill>
                  <a:srgbClr val="E2E8F0"/>
                </a:solidFill>
              </a:defRPr>
            </a:pPr>
            <a:r>
              <a:rPr dirty="0"/>
              <a:t>● Backpressure: queue </a:t>
            </a:r>
            <a:r>
              <a:rPr dirty="0" err="1"/>
              <a:t>đầy</a:t>
            </a:r>
            <a:r>
              <a:rPr dirty="0"/>
              <a:t> → </a:t>
            </a:r>
            <a:r>
              <a:rPr dirty="0" err="1"/>
              <a:t>trả</a:t>
            </a:r>
            <a:r>
              <a:rPr dirty="0"/>
              <a:t> 429 SERVER_OVERLOADED</a:t>
            </a:r>
          </a:p>
          <a:p>
            <a:pPr>
              <a:spcAft>
                <a:spcPts val="400"/>
              </a:spcAft>
              <a:defRPr sz="1800" b="0">
                <a:solidFill>
                  <a:srgbClr val="CBD5E1"/>
                </a:solidFill>
              </a:defRPr>
            </a:pPr>
            <a:r>
              <a:rPr dirty="0"/>
              <a:t>  ○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chặn</a:t>
            </a:r>
            <a:r>
              <a:rPr dirty="0"/>
              <a:t>/</a:t>
            </a:r>
            <a:r>
              <a:rPr dirty="0" err="1"/>
              <a:t>rớt</a:t>
            </a:r>
            <a:r>
              <a:rPr dirty="0"/>
              <a:t> </a:t>
            </a:r>
            <a:r>
              <a:rPr dirty="0" err="1"/>
              <a:t>âm</a:t>
            </a:r>
            <a:r>
              <a:rPr dirty="0"/>
              <a:t> </a:t>
            </a:r>
            <a:r>
              <a:rPr dirty="0" err="1"/>
              <a:t>thầm</a:t>
            </a:r>
            <a:r>
              <a:rPr dirty="0"/>
              <a:t> — client </a:t>
            </a:r>
            <a:r>
              <a:rPr dirty="0" err="1"/>
              <a:t>biết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retry</a:t>
            </a:r>
          </a:p>
          <a:p>
            <a:pPr>
              <a:spcAft>
                <a:spcPts val="800"/>
              </a:spcAft>
              <a:defRPr sz="1800" b="1">
                <a:solidFill>
                  <a:srgbClr val="F97316"/>
                </a:solidFill>
              </a:defRPr>
            </a:pPr>
            <a:r>
              <a:rPr dirty="0"/>
              <a:t>● </a:t>
            </a:r>
            <a:r>
              <a:rPr dirty="0" err="1"/>
              <a:t>pgxpool.MaxConns</a:t>
            </a:r>
            <a:r>
              <a:rPr dirty="0"/>
              <a:t> = 25 / instance  ·  Postgres </a:t>
            </a:r>
            <a:r>
              <a:rPr dirty="0" err="1"/>
              <a:t>max_connections</a:t>
            </a:r>
            <a:r>
              <a:rPr dirty="0"/>
              <a:t> = 500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rPr dirty="0" err="1"/>
              <a:t>Đóng</a:t>
            </a:r>
            <a:r>
              <a:rPr dirty="0"/>
              <a:t> </a:t>
            </a:r>
            <a:r>
              <a:rPr dirty="0" err="1"/>
              <a:t>gói</a:t>
            </a:r>
            <a:r>
              <a:rPr dirty="0"/>
              <a:t> Docker &amp; </a:t>
            </a:r>
            <a:r>
              <a:rPr dirty="0" err="1"/>
              <a:t>Cô</a:t>
            </a:r>
            <a:r>
              <a:rPr dirty="0"/>
              <a:t> </a:t>
            </a:r>
            <a:r>
              <a:rPr dirty="0" err="1"/>
              <a:t>lập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nguyên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2860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6B6D4"/>
                </a:solidFill>
              </a:defRPr>
            </a:pPr>
            <a:r>
              <a:rPr dirty="0"/>
              <a:t>● Multi-stage build</a:t>
            </a:r>
          </a:p>
          <a:p>
            <a:pPr>
              <a:spcAft>
                <a:spcPts val="400"/>
              </a:spcAft>
              <a:defRPr sz="1800" b="0">
                <a:solidFill>
                  <a:srgbClr val="E2E8F0"/>
                </a:solidFill>
              </a:defRPr>
            </a:pPr>
            <a:r>
              <a:rPr dirty="0"/>
              <a:t>  ○ golang:1.26-alpine → </a:t>
            </a:r>
            <a:r>
              <a:rPr dirty="0" err="1"/>
              <a:t>alpine:latest</a:t>
            </a:r>
            <a:endParaRPr dirty="0"/>
          </a:p>
          <a:p>
            <a:pPr>
              <a:spcAft>
                <a:spcPts val="400"/>
              </a:spcAft>
              <a:defRPr sz="1800" b="0">
                <a:solidFill>
                  <a:srgbClr val="22C55E"/>
                </a:solidFill>
              </a:defRPr>
            </a:pPr>
            <a:r>
              <a:rPr dirty="0"/>
              <a:t>  ○ Image runtime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vài</a:t>
            </a:r>
            <a:r>
              <a:rPr dirty="0"/>
              <a:t> MB</a:t>
            </a:r>
          </a:p>
          <a:p>
            <a:pPr>
              <a:spcAft>
                <a:spcPts val="800"/>
              </a:spcAft>
              <a:defRPr sz="2200" b="1">
                <a:solidFill>
                  <a:srgbClr val="06B6D4"/>
                </a:solidFill>
              </a:defRPr>
            </a:pPr>
            <a:r>
              <a:rPr dirty="0"/>
              <a:t>● CPU Pinning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cpuset</a:t>
            </a:r>
            <a:endParaRPr dirty="0"/>
          </a:p>
          <a:p>
            <a:pPr>
              <a:spcAft>
                <a:spcPts val="400"/>
              </a:spcAft>
              <a:defRPr sz="1800" b="0">
                <a:solidFill>
                  <a:srgbClr val="E2E8F0"/>
                </a:solidFill>
              </a:defRPr>
            </a:pPr>
            <a:r>
              <a:rPr dirty="0"/>
              <a:t>  ○ </a:t>
            </a:r>
            <a:r>
              <a:rPr dirty="0" err="1"/>
              <a:t>Mỗi</a:t>
            </a:r>
            <a:r>
              <a:rPr dirty="0"/>
              <a:t> service 1 </a:t>
            </a:r>
            <a:r>
              <a:rPr dirty="0" err="1"/>
              <a:t>lõi</a:t>
            </a:r>
            <a:r>
              <a:rPr dirty="0"/>
              <a:t> </a:t>
            </a:r>
            <a:r>
              <a:rPr dirty="0" err="1"/>
              <a:t>vật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riêng</a:t>
            </a:r>
            <a:endParaRPr dirty="0"/>
          </a:p>
          <a:p>
            <a:pPr>
              <a:spcAft>
                <a:spcPts val="800"/>
              </a:spcAft>
              <a:defRPr sz="2200" b="1">
                <a:solidFill>
                  <a:srgbClr val="06B6D4"/>
                </a:solidFill>
              </a:defRPr>
            </a:pPr>
            <a:r>
              <a:rPr dirty="0"/>
              <a:t>● </a:t>
            </a:r>
            <a:r>
              <a:rPr dirty="0" err="1"/>
              <a:t>network_mode</a:t>
            </a:r>
            <a:r>
              <a:rPr dirty="0"/>
              <a:t>: host </a:t>
            </a:r>
            <a:r>
              <a:rPr dirty="0" err="1"/>
              <a:t>cho</a:t>
            </a:r>
            <a:r>
              <a:rPr dirty="0"/>
              <a:t> service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chính</a:t>
            </a:r>
            <a:endParaRPr dirty="0"/>
          </a:p>
          <a:p>
            <a:pPr>
              <a:spcAft>
                <a:spcPts val="400"/>
              </a:spcAft>
              <a:defRPr sz="1800" b="0">
                <a:solidFill>
                  <a:srgbClr val="22C55E"/>
                </a:solidFill>
              </a:defRPr>
            </a:pPr>
            <a:r>
              <a:rPr dirty="0"/>
              <a:t>  ○ </a:t>
            </a:r>
            <a:r>
              <a:rPr dirty="0" err="1"/>
              <a:t>Loại</a:t>
            </a:r>
            <a:r>
              <a:rPr dirty="0"/>
              <a:t> </a:t>
            </a:r>
            <a:r>
              <a:rPr dirty="0" err="1"/>
              <a:t>bỏ</a:t>
            </a:r>
            <a:r>
              <a:rPr dirty="0"/>
              <a:t> </a:t>
            </a:r>
            <a:r>
              <a:rPr dirty="0" err="1"/>
              <a:t>tầng</a:t>
            </a:r>
            <a:r>
              <a:rPr dirty="0"/>
              <a:t> NAT / bridge network </a:t>
            </a:r>
            <a:r>
              <a:rPr dirty="0" err="1"/>
              <a:t>ảo</a:t>
            </a:r>
            <a:r>
              <a:rPr dirty="0"/>
              <a:t> </a:t>
            </a:r>
            <a:r>
              <a:rPr dirty="0" err="1"/>
              <a:t>hoá</a:t>
            </a:r>
            <a:endParaRPr dirty="0"/>
          </a:p>
          <a:p>
            <a:pPr>
              <a:spcAft>
                <a:spcPts val="800"/>
              </a:spcAft>
              <a:defRPr sz="2000" b="1">
                <a:solidFill>
                  <a:srgbClr val="F97316"/>
                </a:solidFill>
              </a:defRPr>
            </a:pPr>
            <a:r>
              <a:rPr dirty="0"/>
              <a:t>● GOMAXPROCS / GOGC </a:t>
            </a:r>
            <a:r>
              <a:rPr dirty="0" err="1"/>
              <a:t>tinh</a:t>
            </a:r>
            <a:r>
              <a:rPr dirty="0"/>
              <a:t> </a:t>
            </a:r>
            <a:r>
              <a:rPr dirty="0" err="1"/>
              <a:t>chỉnh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đúng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core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cấp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: </a:t>
            </a:r>
            <a:r>
              <a:rPr dirty="0" err="1"/>
              <a:t>Tầng</a:t>
            </a:r>
            <a:r>
              <a:rPr dirty="0"/>
              <a:t> </a:t>
            </a:r>
            <a:r>
              <a:rPr dirty="0" err="1"/>
              <a:t>mạng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286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6B6D4"/>
                </a:solidFill>
              </a:defRPr>
            </a:pPr>
            <a:r>
              <a:rPr dirty="0"/>
              <a:t>● </a:t>
            </a:r>
            <a:r>
              <a:rPr dirty="0" err="1"/>
              <a:t>TransportPool</a:t>
            </a:r>
            <a:r>
              <a:rPr dirty="0"/>
              <a:t>: 8 http2.Transport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chung</a:t>
            </a:r>
            <a:r>
              <a:rPr dirty="0"/>
              <a:t>, round-robin</a:t>
            </a:r>
          </a:p>
          <a:p>
            <a:pPr>
              <a:spcAft>
                <a:spcPts val="400"/>
              </a:spcAft>
              <a:defRPr sz="1800" b="0">
                <a:solidFill>
                  <a:srgbClr val="CBD5E1"/>
                </a:solidFill>
              </a:defRPr>
            </a:pPr>
            <a:r>
              <a:rPr dirty="0"/>
              <a:t>  ○ Thay </a:t>
            </a:r>
            <a:r>
              <a:rPr dirty="0" err="1"/>
              <a:t>thế</a:t>
            </a:r>
            <a:r>
              <a:rPr dirty="0"/>
              <a:t> </a:t>
            </a:r>
            <a:r>
              <a:rPr dirty="0" err="1"/>
              <a:t>MaxIdleConnsPerHost</a:t>
            </a:r>
            <a:r>
              <a:rPr dirty="0"/>
              <a:t>=2 (</a:t>
            </a:r>
            <a:r>
              <a:rPr dirty="0" err="1"/>
              <a:t>nút</a:t>
            </a:r>
            <a:r>
              <a:rPr dirty="0"/>
              <a:t> </a:t>
            </a:r>
            <a:r>
              <a:rPr dirty="0" err="1"/>
              <a:t>thắt</a:t>
            </a:r>
            <a:r>
              <a:rPr dirty="0"/>
              <a:t> HTTP/1.1)</a:t>
            </a:r>
          </a:p>
          <a:p>
            <a:pPr>
              <a:spcAft>
                <a:spcPts val="800"/>
              </a:spcAft>
              <a:defRPr sz="2000" b="1">
                <a:solidFill>
                  <a:srgbClr val="06B6D4"/>
                </a:solidFill>
              </a:defRPr>
            </a:pPr>
            <a:r>
              <a:rPr dirty="0"/>
              <a:t>● Buffer Pool (</a:t>
            </a:r>
            <a:r>
              <a:rPr dirty="0" err="1"/>
              <a:t>sync.Pool</a:t>
            </a:r>
            <a:r>
              <a:rPr dirty="0"/>
              <a:t>, 32KB)</a:t>
            </a:r>
          </a:p>
          <a:p>
            <a:pPr>
              <a:spcAft>
                <a:spcPts val="400"/>
              </a:spcAft>
              <a:defRPr sz="1800" b="0">
                <a:solidFill>
                  <a:srgbClr val="E2E8F0"/>
                </a:solidFill>
              </a:defRPr>
            </a:pPr>
            <a:r>
              <a:rPr dirty="0"/>
              <a:t>  ○ Tái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buffer </a:t>
            </a:r>
            <a:r>
              <a:rPr dirty="0" err="1"/>
              <a:t>cho</a:t>
            </a:r>
            <a:r>
              <a:rPr dirty="0"/>
              <a:t> copy response body</a:t>
            </a:r>
          </a:p>
          <a:p>
            <a:pPr>
              <a:spcAft>
                <a:spcPts val="800"/>
              </a:spcAft>
              <a:defRPr sz="2000" b="1">
                <a:solidFill>
                  <a:srgbClr val="06B6D4"/>
                </a:solidFill>
              </a:defRPr>
            </a:pPr>
            <a:r>
              <a:rPr dirty="0"/>
              <a:t>● </a:t>
            </a:r>
            <a:r>
              <a:rPr dirty="0" err="1"/>
              <a:t>healthyCache</a:t>
            </a:r>
            <a:r>
              <a:rPr dirty="0"/>
              <a:t>: cache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backend </a:t>
            </a:r>
            <a:r>
              <a:rPr dirty="0" err="1"/>
              <a:t>sống</a:t>
            </a:r>
            <a:endParaRPr dirty="0"/>
          </a:p>
          <a:p>
            <a:pPr>
              <a:spcAft>
                <a:spcPts val="400"/>
              </a:spcAft>
              <a:defRPr sz="1800" b="0">
                <a:solidFill>
                  <a:srgbClr val="E2E8F0"/>
                </a:solidFill>
              </a:defRPr>
            </a:pPr>
            <a:r>
              <a:rPr dirty="0"/>
              <a:t>  ○ </a:t>
            </a:r>
            <a:r>
              <a:rPr dirty="0" err="1"/>
              <a:t>Chỉ</a:t>
            </a:r>
            <a:r>
              <a:rPr dirty="0"/>
              <a:t> build </a:t>
            </a:r>
            <a:r>
              <a:rPr dirty="0" err="1"/>
              <a:t>lại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thay</a:t>
            </a:r>
            <a:r>
              <a:rPr dirty="0"/>
              <a:t> </a:t>
            </a:r>
            <a:r>
              <a:rPr dirty="0" err="1"/>
              <a:t>đổi</a:t>
            </a:r>
            <a:r>
              <a:rPr dirty="0"/>
              <a:t> </a:t>
            </a:r>
            <a:r>
              <a:rPr dirty="0" err="1"/>
              <a:t>thật</a:t>
            </a:r>
            <a:endParaRPr dirty="0"/>
          </a:p>
          <a:p>
            <a:pPr>
              <a:spcAft>
                <a:spcPts val="400"/>
              </a:spcAft>
              <a:defRPr sz="1800" b="0">
                <a:solidFill>
                  <a:srgbClr val="22C55E"/>
                </a:solidFill>
              </a:defRPr>
            </a:pPr>
            <a:r>
              <a:rPr dirty="0"/>
              <a:t>  ○ Zero-allocation </a:t>
            </a:r>
            <a:r>
              <a:rPr dirty="0" err="1"/>
              <a:t>trên</a:t>
            </a:r>
            <a:r>
              <a:rPr dirty="0"/>
              <a:t> hot path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: </a:t>
            </a:r>
            <a:r>
              <a:rPr dirty="0" err="1"/>
              <a:t>Tầng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2860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6B6D4"/>
                </a:solidFill>
              </a:defRPr>
            </a:pPr>
            <a:r>
              <a:t>● Thay encoding/json → static parser → easyjson</a:t>
            </a:r>
          </a:p>
          <a:p>
            <a:pPr>
              <a:spcAft>
                <a:spcPts val="400"/>
              </a:spcAft>
              <a:defRPr sz="1800" b="0">
                <a:solidFill>
                  <a:srgbClr val="22C55E"/>
                </a:solidFill>
              </a:defRPr>
            </a:pPr>
            <a:r>
              <a:t>  ○ Code generation thật — không reflection</a:t>
            </a:r>
          </a:p>
          <a:p>
            <a:pPr>
              <a:spcAft>
                <a:spcPts val="800"/>
              </a:spcAft>
              <a:defRPr sz="2000" b="1">
                <a:solidFill>
                  <a:srgbClr val="F97316"/>
                </a:solidFill>
              </a:defRPr>
            </a:pPr>
            <a:r>
              <a:t>● load_test: zero-allocation ở steady state</a:t>
            </a:r>
          </a:p>
          <a:p>
            <a:pPr>
              <a:spcAft>
                <a:spcPts val="400"/>
              </a:spcAft>
              <a:defRPr sz="1800" b="0">
                <a:solidFill>
                  <a:srgbClr val="E2E8F0"/>
                </a:solidFill>
              </a:defRPr>
            </a:pPr>
            <a:r>
              <a:t>  ○ Ghép JSON từ []byte tĩnh + buffer tái sử dụng</a:t>
            </a:r>
          </a:p>
          <a:p>
            <a:pPr>
              <a:spcAft>
                <a:spcPts val="800"/>
              </a:spcAft>
              <a:defRPr sz="2000" b="1">
                <a:solidFill>
                  <a:srgbClr val="EF4444"/>
                </a:solidFill>
              </a:defRPr>
            </a:pPr>
            <a:r>
              <a:t>● Loại bỏ fmt.Sprintf / fmt.Appendf khỏi đường xử lý chính</a:t>
            </a:r>
          </a:p>
          <a:p>
            <a:pPr>
              <a:spcAft>
                <a:spcPts val="400"/>
              </a:spcAft>
              <a:defRPr sz="1800" b="0">
                <a:solidFill>
                  <a:srgbClr val="E2E8F0"/>
                </a:solidFill>
              </a:defRPr>
            </a:pPr>
            <a:r>
              <a:t>  ○ Tránh boxing interface{} + parse format string runtime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</a:defRPr>
            </a:pP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2860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242162"/>
              </p:ext>
            </p:extLst>
          </p:nvPr>
        </p:nvGraphicFramePr>
        <p:xfrm>
          <a:off x="640080" y="1463040"/>
          <a:ext cx="10219543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7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63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2091">
                  <a:extLst>
                    <a:ext uri="{9D8B030D-6E8A-4147-A177-3AD203B41FA5}">
                      <a16:colId xmlns:a16="http://schemas.microsoft.com/office/drawing/2014/main" val="20209572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2C55E"/>
                          </a:solidFill>
                        </a:defRPr>
                      </a:pPr>
                      <a:r>
                        <a:rPr lang="vi-VN" dirty="0"/>
                        <a:t>Thuật toán</a:t>
                      </a:r>
                      <a:endParaRPr dirty="0"/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2C55E"/>
                          </a:solidFill>
                        </a:defRPr>
                      </a:pPr>
                      <a:r>
                        <a:rPr lang="vi-VN" dirty="0"/>
                        <a:t>TPS (median)</a:t>
                      </a:r>
                      <a:endParaRPr dirty="0"/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2C55E"/>
                          </a:solidFill>
                        </a:defRPr>
                      </a:pPr>
                      <a:r>
                        <a:rPr lang="vi-VN" dirty="0"/>
                        <a:t>p50</a:t>
                      </a:r>
                      <a:endParaRPr dirty="0"/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2C55E"/>
                          </a:solidFill>
                        </a:defRPr>
                      </a:pPr>
                      <a:r>
                        <a:rPr lang="vi-VN" dirty="0"/>
                        <a:t>p95</a:t>
                      </a:r>
                      <a:endParaRPr dirty="0"/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2C55E"/>
                          </a:solidFill>
                        </a:defRPr>
                      </a:pPr>
                      <a:r>
                        <a:rPr lang="vi-VN" dirty="0"/>
                        <a:t>p99</a:t>
                      </a:r>
                      <a:endParaRPr dirty="0"/>
                    </a:p>
                  </a:txBody>
                  <a:tcPr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Round Robin</a:t>
                      </a:r>
                    </a:p>
                  </a:txBody>
                  <a:tcPr anchor="ctr"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11.204</a:t>
                      </a:r>
                    </a:p>
                  </a:txBody>
                  <a:tcPr anchor="ctr"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8.35 ms</a:t>
                      </a:r>
                    </a:p>
                  </a:txBody>
                  <a:tcPr anchor="ctr"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14.92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19.85 ms</a:t>
                      </a:r>
                    </a:p>
                  </a:txBody>
                  <a:tcPr anchor="ctr">
                    <a:solidFill>
                      <a:srgbClr val="19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Weighted</a:t>
                      </a:r>
                    </a:p>
                  </a:txBody>
                  <a:tcPr anchor="ctr"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11.199</a:t>
                      </a:r>
                    </a:p>
                  </a:txBody>
                  <a:tcPr anchor="ctr"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8.30 ms</a:t>
                      </a:r>
                    </a:p>
                  </a:txBody>
                  <a:tcPr anchor="ctr"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14.95 ms</a:t>
                      </a:r>
                    </a:p>
                  </a:txBody>
                  <a:tcPr anchor="ctr"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20.62 ms</a:t>
                      </a:r>
                    </a:p>
                  </a:txBody>
                  <a:tcPr anchor="ctr">
                    <a:solidFill>
                      <a:srgbClr val="19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Load-based</a:t>
                      </a:r>
                    </a:p>
                  </a:txBody>
                  <a:tcPr anchor="ctr"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11.333</a:t>
                      </a:r>
                    </a:p>
                  </a:txBody>
                  <a:tcPr anchor="ctr"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8.26 ms</a:t>
                      </a:r>
                    </a:p>
                  </a:txBody>
                  <a:tcPr anchor="ctr"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14.92 ms</a:t>
                      </a:r>
                    </a:p>
                  </a:txBody>
                  <a:tcPr anchor="ctr"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20.72 ms</a:t>
                      </a:r>
                    </a:p>
                  </a:txBody>
                  <a:tcPr anchor="ctr">
                    <a:solidFill>
                      <a:srgbClr val="19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36227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Maglev</a:t>
                      </a:r>
                    </a:p>
                  </a:txBody>
                  <a:tcPr anchor="ctr"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10.069</a:t>
                      </a:r>
                    </a:p>
                  </a:txBody>
                  <a:tcPr anchor="ctr"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9.02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16.98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23.57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9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65798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DE62008-1C7D-DD66-F013-999F730C6659}"/>
              </a:ext>
            </a:extLst>
          </p:cNvPr>
          <p:cNvSpPr txBox="1"/>
          <p:nvPr/>
        </p:nvSpPr>
        <p:spPr>
          <a:xfrm>
            <a:off x="555937" y="4441679"/>
            <a:ext cx="10219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p50/p95/p99 = </a:t>
            </a:r>
            <a:r>
              <a:rPr lang="en-US" dirty="0" err="1">
                <a:solidFill>
                  <a:schemeClr val="bg1"/>
                </a:solidFill>
              </a:rPr>
              <a:t>ngưỡng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độ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mà</a:t>
            </a:r>
            <a:r>
              <a:rPr lang="en-US" dirty="0">
                <a:solidFill>
                  <a:schemeClr val="bg1"/>
                </a:solidFill>
              </a:rPr>
              <a:t> 50%/95%/99% request </a:t>
            </a:r>
            <a:r>
              <a:rPr lang="en-US" dirty="0" err="1">
                <a:solidFill>
                  <a:schemeClr val="bg1"/>
                </a:solidFill>
              </a:rPr>
              <a:t>nhanh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hơn</a:t>
            </a:r>
            <a:r>
              <a:rPr lang="en-US" dirty="0">
                <a:solidFill>
                  <a:schemeClr val="bg1"/>
                </a:solidFill>
              </a:rPr>
              <a:t> — </a:t>
            </a:r>
            <a:r>
              <a:rPr lang="en-US" dirty="0" err="1">
                <a:solidFill>
                  <a:schemeClr val="bg1"/>
                </a:solidFill>
              </a:rPr>
              <a:t>dùng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thay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trung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bình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cộng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vì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trung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bình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bị</a:t>
            </a:r>
            <a:r>
              <a:rPr lang="en-US" dirty="0">
                <a:solidFill>
                  <a:schemeClr val="bg1"/>
                </a:solidFill>
              </a:rPr>
              <a:t> '</a:t>
            </a:r>
            <a:r>
              <a:rPr lang="en-US" dirty="0" err="1">
                <a:solidFill>
                  <a:schemeClr val="bg1"/>
                </a:solidFill>
              </a:rPr>
              <a:t>ẩn</a:t>
            </a:r>
            <a:r>
              <a:rPr lang="en-US" dirty="0">
                <a:solidFill>
                  <a:schemeClr val="bg1"/>
                </a:solidFill>
              </a:rPr>
              <a:t>' </a:t>
            </a:r>
            <a:r>
              <a:rPr lang="en-US" dirty="0" err="1">
                <a:solidFill>
                  <a:schemeClr val="bg1"/>
                </a:solidFill>
              </a:rPr>
              <a:t>bởi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số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ít</a:t>
            </a:r>
            <a:r>
              <a:rPr lang="en-US" dirty="0">
                <a:solidFill>
                  <a:schemeClr val="bg1"/>
                </a:solidFill>
              </a:rPr>
              <a:t> request </a:t>
            </a:r>
            <a:r>
              <a:rPr lang="en-US" dirty="0" err="1">
                <a:solidFill>
                  <a:schemeClr val="bg1"/>
                </a:solidFill>
              </a:rPr>
              <a:t>cực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chậm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5A2536-1A78-417C-5863-0C636EE066FF}"/>
              </a:ext>
            </a:extLst>
          </p:cNvPr>
          <p:cNvSpPr txBox="1"/>
          <p:nvPr/>
        </p:nvSpPr>
        <p:spPr>
          <a:xfrm>
            <a:off x="551644" y="5209149"/>
            <a:ext cx="106594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i="1" dirty="0">
                <a:solidFill>
                  <a:srgbClr val="92D050"/>
                </a:solidFill>
              </a:rPr>
              <a:t>=&gt; </a:t>
            </a:r>
            <a:r>
              <a:rPr lang="en-US" i="1" dirty="0">
                <a:solidFill>
                  <a:srgbClr val="92D050"/>
                </a:solidFill>
              </a:rPr>
              <a:t>Round Robin, Weighted </a:t>
            </a:r>
            <a:r>
              <a:rPr lang="en-US" i="1" dirty="0" err="1">
                <a:solidFill>
                  <a:srgbClr val="92D050"/>
                </a:solidFill>
              </a:rPr>
              <a:t>và</a:t>
            </a:r>
            <a:r>
              <a:rPr lang="en-US" i="1" dirty="0">
                <a:solidFill>
                  <a:srgbClr val="92D050"/>
                </a:solidFill>
              </a:rPr>
              <a:t> Load-based </a:t>
            </a:r>
            <a:r>
              <a:rPr lang="en-US" i="1" dirty="0" err="1">
                <a:solidFill>
                  <a:srgbClr val="92D050"/>
                </a:solidFill>
              </a:rPr>
              <a:t>cho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hiệu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năng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gần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như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tương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đương</a:t>
            </a:r>
            <a:r>
              <a:rPr lang="en-US" i="1" dirty="0">
                <a:solidFill>
                  <a:srgbClr val="92D050"/>
                </a:solidFill>
              </a:rPr>
              <a:t> (</a:t>
            </a:r>
            <a:r>
              <a:rPr lang="en-US" i="1" dirty="0" err="1">
                <a:solidFill>
                  <a:srgbClr val="92D050"/>
                </a:solidFill>
              </a:rPr>
              <a:t>chênh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lệch</a:t>
            </a:r>
            <a:r>
              <a:rPr lang="en-US" i="1" dirty="0">
                <a:solidFill>
                  <a:srgbClr val="92D050"/>
                </a:solidFill>
              </a:rPr>
              <a:t> TPS &lt;2%). Maglev </a:t>
            </a:r>
            <a:r>
              <a:rPr lang="en-US" i="1" dirty="0" err="1">
                <a:solidFill>
                  <a:srgbClr val="92D050"/>
                </a:solidFill>
              </a:rPr>
              <a:t>chậm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hơn</a:t>
            </a:r>
            <a:r>
              <a:rPr lang="en-US" i="1" dirty="0">
                <a:solidFill>
                  <a:srgbClr val="92D050"/>
                </a:solidFill>
              </a:rPr>
              <a:t> ~11% TPS </a:t>
            </a:r>
            <a:r>
              <a:rPr lang="en-US" i="1" dirty="0" err="1">
                <a:solidFill>
                  <a:srgbClr val="92D050"/>
                </a:solidFill>
              </a:rPr>
              <a:t>và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độ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trễ</a:t>
            </a:r>
            <a:r>
              <a:rPr lang="en-US" i="1" dirty="0">
                <a:solidFill>
                  <a:srgbClr val="92D050"/>
                </a:solidFill>
              </a:rPr>
              <a:t> p99 </a:t>
            </a:r>
            <a:r>
              <a:rPr lang="en-US" i="1" dirty="0" err="1">
                <a:solidFill>
                  <a:srgbClr val="92D050"/>
                </a:solidFill>
              </a:rPr>
              <a:t>cao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hơn</a:t>
            </a:r>
            <a:r>
              <a:rPr lang="en-US" i="1" dirty="0">
                <a:solidFill>
                  <a:srgbClr val="92D050"/>
                </a:solidFill>
              </a:rPr>
              <a:t> ~19% — </a:t>
            </a:r>
            <a:r>
              <a:rPr lang="en-US" i="1" dirty="0" err="1">
                <a:solidFill>
                  <a:srgbClr val="92D050"/>
                </a:solidFill>
              </a:rPr>
              <a:t>vì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đây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là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thuật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toán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duy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nhất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phải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đọc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và</a:t>
            </a:r>
            <a:r>
              <a:rPr lang="en-US" i="1" dirty="0">
                <a:solidFill>
                  <a:srgbClr val="92D050"/>
                </a:solidFill>
              </a:rPr>
              <a:t> parse </a:t>
            </a:r>
            <a:r>
              <a:rPr lang="en-US" i="1" dirty="0" err="1">
                <a:solidFill>
                  <a:srgbClr val="92D050"/>
                </a:solidFill>
              </a:rPr>
              <a:t>toàn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bộ</a:t>
            </a:r>
            <a:r>
              <a:rPr lang="en-US" i="1" dirty="0">
                <a:solidFill>
                  <a:srgbClr val="92D050"/>
                </a:solidFill>
              </a:rPr>
              <a:t> JSON body </a:t>
            </a:r>
            <a:r>
              <a:rPr lang="en-US" i="1" dirty="0" err="1">
                <a:solidFill>
                  <a:srgbClr val="92D050"/>
                </a:solidFill>
              </a:rPr>
              <a:t>để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trích</a:t>
            </a:r>
            <a:r>
              <a:rPr lang="en-US" i="1" dirty="0">
                <a:solidFill>
                  <a:srgbClr val="92D050"/>
                </a:solidFill>
              </a:rPr>
              <a:t> SUPI </a:t>
            </a:r>
            <a:r>
              <a:rPr lang="en-US" i="1" dirty="0" err="1">
                <a:solidFill>
                  <a:srgbClr val="92D050"/>
                </a:solidFill>
              </a:rPr>
              <a:t>trước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khi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định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tuyến</a:t>
            </a:r>
            <a:r>
              <a:rPr lang="en-US" i="1" dirty="0">
                <a:solidFill>
                  <a:srgbClr val="92D050"/>
                </a:solidFill>
              </a:rPr>
              <a:t>, </a:t>
            </a:r>
            <a:r>
              <a:rPr lang="en-US" i="1" dirty="0" err="1">
                <a:solidFill>
                  <a:srgbClr val="92D050"/>
                </a:solidFill>
              </a:rPr>
              <a:t>đánh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đổi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lấy</a:t>
            </a:r>
            <a:r>
              <a:rPr lang="en-US" i="1" dirty="0">
                <a:solidFill>
                  <a:srgbClr val="92D050"/>
                </a:solidFill>
              </a:rPr>
              <a:t> session affinity (</a:t>
            </a:r>
            <a:r>
              <a:rPr lang="en-US" i="1" dirty="0" err="1">
                <a:solidFill>
                  <a:srgbClr val="92D050"/>
                </a:solidFill>
              </a:rPr>
              <a:t>đảm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bảo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cùng</a:t>
            </a:r>
            <a:r>
              <a:rPr lang="en-US" i="1" dirty="0">
                <a:solidFill>
                  <a:srgbClr val="92D050"/>
                </a:solidFill>
              </a:rPr>
              <a:t> 1 </a:t>
            </a:r>
            <a:r>
              <a:rPr lang="en-US" i="1" dirty="0" err="1">
                <a:solidFill>
                  <a:srgbClr val="92D050"/>
                </a:solidFill>
              </a:rPr>
              <a:t>thuê</a:t>
            </a:r>
            <a:r>
              <a:rPr lang="en-US" i="1" dirty="0">
                <a:solidFill>
                  <a:srgbClr val="92D050"/>
                </a:solidFill>
              </a:rPr>
              <a:t> bao </a:t>
            </a:r>
            <a:r>
              <a:rPr lang="en-US" i="1" dirty="0" err="1">
                <a:solidFill>
                  <a:srgbClr val="92D050"/>
                </a:solidFill>
              </a:rPr>
              <a:t>luôn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vào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đúng</a:t>
            </a:r>
            <a:r>
              <a:rPr lang="en-US" i="1" dirty="0">
                <a:solidFill>
                  <a:srgbClr val="92D050"/>
                </a:solidFill>
              </a:rPr>
              <a:t> 1 PDU instance) </a:t>
            </a:r>
            <a:r>
              <a:rPr lang="en-US" i="1" dirty="0" err="1">
                <a:solidFill>
                  <a:srgbClr val="92D050"/>
                </a:solidFill>
              </a:rPr>
              <a:t>mà</a:t>
            </a:r>
            <a:r>
              <a:rPr lang="en-US" i="1" dirty="0">
                <a:solidFill>
                  <a:srgbClr val="92D050"/>
                </a:solidFill>
              </a:rPr>
              <a:t> 3 </a:t>
            </a:r>
            <a:r>
              <a:rPr lang="en-US" i="1" dirty="0" err="1">
                <a:solidFill>
                  <a:srgbClr val="92D050"/>
                </a:solidFill>
              </a:rPr>
              <a:t>thuật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toán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còn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lại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không</a:t>
            </a:r>
            <a:r>
              <a:rPr lang="en-US" i="1" dirty="0">
                <a:solidFill>
                  <a:srgbClr val="92D050"/>
                </a:solidFill>
              </a:rPr>
              <a:t> </a:t>
            </a:r>
            <a:r>
              <a:rPr lang="en-US" i="1" dirty="0" err="1">
                <a:solidFill>
                  <a:srgbClr val="92D050"/>
                </a:solidFill>
              </a:rPr>
              <a:t>có</a:t>
            </a:r>
            <a:r>
              <a:rPr lang="en-US" i="1" dirty="0">
                <a:solidFill>
                  <a:srgbClr val="92D05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447" y="2971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</a:defRPr>
            </a:pPr>
            <a:r>
              <a:rPr dirty="0" err="1"/>
              <a:t>Cảm</a:t>
            </a:r>
            <a:r>
              <a:rPr dirty="0"/>
              <a:t> </a:t>
            </a:r>
            <a:r>
              <a:rPr dirty="0" err="1"/>
              <a:t>ơn</a:t>
            </a:r>
            <a:r>
              <a:rPr dirty="0"/>
              <a:t> Mentor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mọi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lắng</a:t>
            </a:r>
            <a:r>
              <a:rPr dirty="0"/>
              <a:t> </a:t>
            </a:r>
            <a:r>
              <a:rPr dirty="0" err="1"/>
              <a:t>nghe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</TotalTime>
  <Words>1103</Words>
  <Application>Microsoft Office PowerPoint</Application>
  <PresentationFormat>Widescreen</PresentationFormat>
  <Paragraphs>126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 (Body)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 Thi Thuy Hang 20235073</cp:lastModifiedBy>
  <cp:revision>3</cp:revision>
  <dcterms:created xsi:type="dcterms:W3CDTF">2013-01-27T09:14:16Z</dcterms:created>
  <dcterms:modified xsi:type="dcterms:W3CDTF">2026-08-17T04:23:46Z</dcterms:modified>
  <cp:category/>
</cp:coreProperties>
</file>